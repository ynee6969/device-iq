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1" d="100"/>
          <a:sy n="111" d="100"/>
        </p:scale>
        <p:origin x="8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B1A27521-8DF2-423E-9E9F-3F4968DBB7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ED27C5F-FAAD-40CA-B4FD-9F3C19D6DE3E}"/>
              </a:ext>
            </a:extLst>
          </p:cNvPr>
          <p:cNvSpPr>
            <a:spLocks noGrp="1"/>
          </p:cNvSpPr>
          <p:nvPr/>
        </p:nvSpPr>
        <p:spPr>
          <a:xfrm>
            <a:off x="-1238250" y="-1047750"/>
            <a:ext cx="4953000" cy="4953000"/>
          </a:xfrm>
          <a:prstGeom prst="ellipse">
            <a:avLst/>
          </a:prstGeom>
          <a:solidFill>
            <a:srgbClr val="46B37B">
              <a:alpha val="18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35F8D7A-D81C-44E4-9AC9-6037CAF3A0D3}"/>
              </a:ext>
            </a:extLst>
          </p:cNvPr>
          <p:cNvSpPr>
            <a:spLocks noGrp="1"/>
          </p:cNvSpPr>
          <p:nvPr/>
        </p:nvSpPr>
        <p:spPr>
          <a:xfrm>
            <a:off x="8667750" y="-666750"/>
            <a:ext cx="3714750" cy="3714750"/>
          </a:xfrm>
          <a:prstGeom prst="ellipse">
            <a:avLst/>
          </a:prstGeom>
          <a:solidFill>
            <a:srgbClr val="5F96FF">
              <a:alpha val="12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0CCA9B-2883-4B58-A4D1-8A2F316E22DB}"/>
              </a:ext>
            </a:extLst>
          </p:cNvPr>
          <p:cNvSpPr>
            <a:spLocks noGrp="1"/>
          </p:cNvSpPr>
          <p:nvPr/>
        </p:nvSpPr>
        <p:spPr>
          <a:xfrm>
            <a:off x="4000500" y="4953000"/>
            <a:ext cx="5905500" cy="2857500"/>
          </a:xfrm>
          <a:prstGeom prst="ellipse">
            <a:avLst/>
          </a:prstGeom>
          <a:solidFill>
            <a:srgbClr val="FFFFFF">
              <a:alpha val="4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5B9AB2-5873-4D6E-96DD-D22E465595CA}"/>
              </a:ext>
            </a:extLst>
          </p:cNvPr>
          <p:cNvSpPr>
            <a:spLocks noGrp="1"/>
          </p:cNvSpPr>
          <p:nvPr/>
        </p:nvSpPr>
        <p:spPr>
          <a:xfrm>
            <a:off x="0" y="43130"/>
            <a:ext cx="12192000" cy="6858000"/>
          </a:xfrm>
          <a:prstGeom prst="rect">
            <a:avLst/>
          </a:prstGeom>
          <a:solidFill>
            <a:srgbClr val="0D1117">
              <a:alpha val="12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2C4F83-9C09-40AD-88A8-801C90001FB7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676400" cy="323850"/>
          </a:xfrm>
          <a:prstGeom prst="roundRect">
            <a:avLst>
              <a:gd name="adj" fmla="val 50000"/>
            </a:avLst>
          </a:prstGeom>
          <a:solidFill>
            <a:srgbClr val="46B37B">
              <a:alpha val="14000"/>
            </a:srgbClr>
          </a:solidFill>
          <a:ln w="9525">
            <a:solidFill>
              <a:srgbClr val="46B37B">
                <a:alpha val="2400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528ADC-0A84-4C46-9D0E-88C066447257}"/>
              </a:ext>
            </a:extLst>
          </p:cNvPr>
          <p:cNvSpPr>
            <a:spLocks noGrp="1"/>
          </p:cNvSpPr>
          <p:nvPr/>
        </p:nvSpPr>
        <p:spPr>
          <a:xfrm>
            <a:off x="628650" y="46672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46B3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6B37B"/>
                </a:solidFill>
                <a:latin typeface="Aptos"/>
                <a:ea typeface="Aptos"/>
                <a:cs typeface="Aptos"/>
              </a:rPr>
              <a:t>TITLE SLIDE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D00758-DFCA-4007-A74E-D8085BBEA813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48577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4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DeviceIQ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DE9310-C617-4862-A7BC-C4089D695B85}"/>
              </a:ext>
            </a:extLst>
          </p:cNvPr>
          <p:cNvSpPr>
            <a:spLocks noGrp="1"/>
          </p:cNvSpPr>
          <p:nvPr/>
        </p:nvSpPr>
        <p:spPr>
          <a:xfrm>
            <a:off x="571500" y="1924050"/>
            <a:ext cx="4953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9BA7B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9BA7BA"/>
                </a:solidFill>
                <a:latin typeface="Aptos"/>
                <a:ea typeface="Aptos"/>
                <a:cs typeface="Aptos"/>
              </a:rPr>
              <a:t>A cleaner way to choose a phone.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C7DA38-84A2-49BD-9A47-240337B3B5BF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5048250" cy="962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F5F7FB"/>
                </a:solidFill>
                <a:latin typeface="Aptos"/>
                <a:ea typeface="Aptos"/>
                <a:cs typeface="Aptos"/>
              </a:rPr>
              <a:t>Browse and compare phones in one place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F5F7FB"/>
                </a:solidFill>
                <a:latin typeface="Aptos"/>
                <a:ea typeface="Aptos"/>
                <a:cs typeface="Aptos"/>
              </a:rPr>
              <a:t>Reduce confusion from too many tabs and spec sheets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F5F7FB"/>
                </a:solidFill>
                <a:latin typeface="Aptos"/>
                <a:ea typeface="Aptos"/>
                <a:cs typeface="Aptos"/>
              </a:rPr>
              <a:t>Designed for phone shoppers, students, and casual visitors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F5F7FB"/>
                </a:solidFill>
                <a:latin typeface="Aptos"/>
                <a:ea typeface="Aptos"/>
                <a:cs typeface="Aptos"/>
              </a:rPr>
              <a:t>Sign-in is optional for browsing, but useful for saving favorites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09BD5E3-7CCE-4FE0-AC27-604F65971752}"/>
              </a:ext>
            </a:extLst>
          </p:cNvPr>
          <p:cNvSpPr>
            <a:spLocks noGrp="1"/>
          </p:cNvSpPr>
          <p:nvPr/>
        </p:nvSpPr>
        <p:spPr>
          <a:xfrm>
            <a:off x="571500" y="3848100"/>
            <a:ext cx="1162050" cy="323850"/>
          </a:xfrm>
          <a:prstGeom prst="roundRect">
            <a:avLst>
              <a:gd name="adj" fmla="val 50000"/>
            </a:avLst>
          </a:prstGeom>
          <a:solidFill>
            <a:srgbClr val="46B37B">
              <a:alpha val="14000"/>
            </a:srgbClr>
          </a:solidFill>
          <a:ln w="9525">
            <a:solidFill>
              <a:srgbClr val="46B37B">
                <a:alpha val="2400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B493C4-34D9-4C93-93B5-8E34201DE67F}"/>
              </a:ext>
            </a:extLst>
          </p:cNvPr>
          <p:cNvSpPr>
            <a:spLocks noGrp="1"/>
          </p:cNvSpPr>
          <p:nvPr/>
        </p:nvSpPr>
        <p:spPr>
          <a:xfrm>
            <a:off x="647700" y="3938855"/>
            <a:ext cx="1009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46B3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6B37B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3FFB404-769A-415B-B380-F8E9FBCB49DF}"/>
              </a:ext>
            </a:extLst>
          </p:cNvPr>
          <p:cNvSpPr>
            <a:spLocks noGrp="1"/>
          </p:cNvSpPr>
          <p:nvPr/>
        </p:nvSpPr>
        <p:spPr>
          <a:xfrm>
            <a:off x="1847850" y="3848100"/>
            <a:ext cx="1162050" cy="323850"/>
          </a:xfrm>
          <a:prstGeom prst="roundRect">
            <a:avLst>
              <a:gd name="adj" fmla="val 50000"/>
            </a:avLst>
          </a:prstGeom>
          <a:solidFill>
            <a:srgbClr val="5F96FF">
              <a:alpha val="12000"/>
            </a:srgbClr>
          </a:solidFill>
          <a:ln w="9525">
            <a:solidFill>
              <a:srgbClr val="5F96FF">
                <a:alpha val="2200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A59150-398E-4A9F-A982-EDB3E891C1AD}"/>
              </a:ext>
            </a:extLst>
          </p:cNvPr>
          <p:cNvSpPr>
            <a:spLocks noGrp="1"/>
          </p:cNvSpPr>
          <p:nvPr/>
        </p:nvSpPr>
        <p:spPr>
          <a:xfrm>
            <a:off x="1924050" y="3938855"/>
            <a:ext cx="1009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5F96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96FF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27DA6D1-14E3-46E0-9BBE-616E8A35C6FB}"/>
              </a:ext>
            </a:extLst>
          </p:cNvPr>
          <p:cNvSpPr>
            <a:spLocks noGrp="1"/>
          </p:cNvSpPr>
          <p:nvPr/>
        </p:nvSpPr>
        <p:spPr>
          <a:xfrm>
            <a:off x="3124200" y="3848100"/>
            <a:ext cx="1162050" cy="323850"/>
          </a:xfrm>
          <a:prstGeom prst="roundRect">
            <a:avLst>
              <a:gd name="adj" fmla="val 50000"/>
            </a:avLst>
          </a:prstGeom>
          <a:solidFill>
            <a:srgbClr val="B8D9CA">
              <a:alpha val="12000"/>
            </a:srgbClr>
          </a:solidFill>
          <a:ln w="9525">
            <a:solidFill>
              <a:srgbClr val="B8D9CA">
                <a:alpha val="2200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389D00-60C4-4B69-83C0-BEBE56BCE6E1}"/>
              </a:ext>
            </a:extLst>
          </p:cNvPr>
          <p:cNvSpPr>
            <a:spLocks noGrp="1"/>
          </p:cNvSpPr>
          <p:nvPr/>
        </p:nvSpPr>
        <p:spPr>
          <a:xfrm>
            <a:off x="3200400" y="3938855"/>
            <a:ext cx="1009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B8D9C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D9CA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9CF01B-3CE9-4824-AB8A-F2370C3092E2}"/>
              </a:ext>
            </a:extLst>
          </p:cNvPr>
          <p:cNvSpPr>
            <a:spLocks noGrp="1"/>
          </p:cNvSpPr>
          <p:nvPr/>
        </p:nvSpPr>
        <p:spPr>
          <a:xfrm>
            <a:off x="571500" y="426720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9BA7B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BA7BA"/>
                </a:solidFill>
                <a:latin typeface="Aptos"/>
                <a:ea typeface="Aptos"/>
                <a:cs typeface="Aptos"/>
              </a:rPr>
              <a:t>Key idea: fewer tabs, clearer choices, easier saving.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90CB8FD-F5F2-40A2-81C1-2CD247EE832D}"/>
              </a:ext>
            </a:extLst>
          </p:cNvPr>
          <p:cNvSpPr>
            <a:spLocks noGrp="1"/>
          </p:cNvSpPr>
          <p:nvPr/>
        </p:nvSpPr>
        <p:spPr>
          <a:xfrm>
            <a:off x="6819900" y="914400"/>
            <a:ext cx="4591050" cy="4762500"/>
          </a:xfrm>
          <a:prstGeom prst="roundRect">
            <a:avLst>
              <a:gd name="adj" fmla="val 5809"/>
            </a:avLst>
          </a:prstGeom>
          <a:solidFill>
            <a:srgbClr val="141920">
              <a:alpha val="92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097450-4DCA-43BE-933F-CC22F0350250}"/>
              </a:ext>
            </a:extLst>
          </p:cNvPr>
          <p:cNvSpPr>
            <a:spLocks noGrp="1"/>
          </p:cNvSpPr>
          <p:nvPr/>
        </p:nvSpPr>
        <p:spPr>
          <a:xfrm>
            <a:off x="6819900" y="914400"/>
            <a:ext cx="4591050" cy="9525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BE84B97-43B9-4F74-AEFE-D48679103038}"/>
              </a:ext>
            </a:extLst>
          </p:cNvPr>
          <p:cNvSpPr>
            <a:spLocks noGrp="1"/>
          </p:cNvSpPr>
          <p:nvPr/>
        </p:nvSpPr>
        <p:spPr>
          <a:xfrm>
            <a:off x="7124700" y="1200150"/>
            <a:ext cx="1733550" cy="2362200"/>
          </a:xfrm>
          <a:prstGeom prst="roundRect">
            <a:avLst>
              <a:gd name="adj" fmla="val 13187"/>
            </a:avLst>
          </a:prstGeom>
          <a:solidFill>
            <a:srgbClr val="1D2631">
              <a:alpha val="96000"/>
            </a:srgbClr>
          </a:solidFill>
          <a:ln w="9525">
            <a:solidFill>
              <a:srgbClr val="46B37B">
                <a:alpha val="2400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8B5916-389A-4047-B8B2-7684708350D1}"/>
              </a:ext>
            </a:extLst>
          </p:cNvPr>
          <p:cNvSpPr>
            <a:spLocks noGrp="1"/>
          </p:cNvSpPr>
          <p:nvPr/>
        </p:nvSpPr>
        <p:spPr>
          <a:xfrm>
            <a:off x="7334250" y="14097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6B3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6B37B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D15CE4-4D36-4487-B298-788E81072226}"/>
              </a:ext>
            </a:extLst>
          </p:cNvPr>
          <p:cNvSpPr>
            <a:spLocks noGrp="1"/>
          </p:cNvSpPr>
          <p:nvPr/>
        </p:nvSpPr>
        <p:spPr>
          <a:xfrm>
            <a:off x="7334250" y="1676400"/>
            <a:ext cx="12192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Easy to scan</a:t>
            </a:r>
          </a:p>
          <a:p>
            <a:pPr algn="l">
              <a:defRPr sz="16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phone cards.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D649FCF-39B6-46ED-AE29-B054B5B58353}"/>
              </a:ext>
            </a:extLst>
          </p:cNvPr>
          <p:cNvSpPr>
            <a:spLocks noGrp="1"/>
          </p:cNvSpPr>
          <p:nvPr/>
        </p:nvSpPr>
        <p:spPr>
          <a:xfrm>
            <a:off x="7334250" y="2647950"/>
            <a:ext cx="1066800" cy="247650"/>
          </a:xfrm>
          <a:prstGeom prst="roundRect">
            <a:avLst>
              <a:gd name="adj" fmla="val 50000"/>
            </a:avLst>
          </a:prstGeom>
          <a:solidFill>
            <a:srgbClr val="46B37B">
              <a:alpha val="10000"/>
            </a:srgbClr>
          </a:solidFill>
          <a:ln w="9525">
            <a:solidFill>
              <a:srgbClr val="46B37B">
                <a:alpha val="1800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46A0DC-5334-42B4-B0C5-DD063D9D90BA}"/>
              </a:ext>
            </a:extLst>
          </p:cNvPr>
          <p:cNvSpPr>
            <a:spLocks noGrp="1"/>
          </p:cNvSpPr>
          <p:nvPr/>
        </p:nvSpPr>
        <p:spPr>
          <a:xfrm>
            <a:off x="7410450" y="2695575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46B37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6B37B"/>
                </a:solidFill>
                <a:latin typeface="Aptos"/>
                <a:ea typeface="Aptos"/>
                <a:cs typeface="Aptos"/>
              </a:rPr>
              <a:t>Responsive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ED7171B-7472-4B7E-AD1C-4A8A991FDF3F}"/>
              </a:ext>
            </a:extLst>
          </p:cNvPr>
          <p:cNvSpPr>
            <a:spLocks noGrp="1"/>
          </p:cNvSpPr>
          <p:nvPr/>
        </p:nvSpPr>
        <p:spPr>
          <a:xfrm>
            <a:off x="7334250" y="2971800"/>
            <a:ext cx="1066800" cy="247650"/>
          </a:xfrm>
          <a:prstGeom prst="roundRect">
            <a:avLst>
              <a:gd name="adj" fmla="val 50000"/>
            </a:avLst>
          </a:prstGeom>
          <a:solidFill>
            <a:srgbClr val="5F96FF">
              <a:alpha val="10000"/>
            </a:srgbClr>
          </a:solidFill>
          <a:ln w="9525">
            <a:solidFill>
              <a:srgbClr val="5F96FF">
                <a:alpha val="18000"/>
              </a:srgbClr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B6B049-AF35-4B83-BACC-6BE879236636}"/>
              </a:ext>
            </a:extLst>
          </p:cNvPr>
          <p:cNvSpPr>
            <a:spLocks noGrp="1"/>
          </p:cNvSpPr>
          <p:nvPr/>
        </p:nvSpPr>
        <p:spPr>
          <a:xfrm>
            <a:off x="7410450" y="3019425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5F96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96FF"/>
                </a:solidFill>
                <a:latin typeface="Aptos"/>
                <a:ea typeface="Aptos"/>
                <a:cs typeface="Aptos"/>
              </a:rPr>
              <a:t>Glass cards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B05A298-9E00-4EEE-981C-BD784D36EFAB}"/>
              </a:ext>
            </a:extLst>
          </p:cNvPr>
          <p:cNvSpPr>
            <a:spLocks noGrp="1"/>
          </p:cNvSpPr>
          <p:nvPr/>
        </p:nvSpPr>
        <p:spPr>
          <a:xfrm>
            <a:off x="9105900" y="1485900"/>
            <a:ext cx="1695450" cy="1981200"/>
          </a:xfrm>
          <a:prstGeom prst="roundRect">
            <a:avLst>
              <a:gd name="adj" fmla="val 13483"/>
            </a:avLst>
          </a:prstGeom>
          <a:solidFill>
            <a:srgbClr val="161D26">
              <a:alpha val="96000"/>
            </a:srgbClr>
          </a:solidFill>
          <a:ln w="9525">
            <a:solidFill>
              <a:srgbClr val="FFFFFF">
                <a:alpha val="14000"/>
              </a:srgbClr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EF05CDB-6380-4B19-9C47-213835589A8D}"/>
              </a:ext>
            </a:extLst>
          </p:cNvPr>
          <p:cNvSpPr>
            <a:spLocks noGrp="1"/>
          </p:cNvSpPr>
          <p:nvPr/>
        </p:nvSpPr>
        <p:spPr>
          <a:xfrm>
            <a:off x="9315450" y="169545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96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96FF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B981F1-6B48-4514-B86A-941FA7CC5DBA}"/>
              </a:ext>
            </a:extLst>
          </p:cNvPr>
          <p:cNvSpPr>
            <a:spLocks noGrp="1"/>
          </p:cNvSpPr>
          <p:nvPr/>
        </p:nvSpPr>
        <p:spPr>
          <a:xfrm>
            <a:off x="9315450" y="1962150"/>
            <a:ext cx="1104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Phone details</a:t>
            </a:r>
          </a:p>
          <a:p>
            <a:pPr algn="l">
              <a:def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side by side.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E94909-8B50-4927-9B75-4C2ADA17AA86}"/>
              </a:ext>
            </a:extLst>
          </p:cNvPr>
          <p:cNvSpPr>
            <a:spLocks noGrp="1"/>
          </p:cNvSpPr>
          <p:nvPr/>
        </p:nvSpPr>
        <p:spPr>
          <a:xfrm>
            <a:off x="9315450" y="2667000"/>
            <a:ext cx="1219200" cy="57150"/>
          </a:xfrm>
          <a:prstGeom prst="rect">
            <a:avLst/>
          </a:prstGeom>
          <a:solidFill>
            <a:srgbClr val="FFFFFF">
              <a:alpha val="10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A4B92D-1C99-41E9-9948-63E5ED7504B6}"/>
              </a:ext>
            </a:extLst>
          </p:cNvPr>
          <p:cNvSpPr>
            <a:spLocks noGrp="1"/>
          </p:cNvSpPr>
          <p:nvPr/>
        </p:nvSpPr>
        <p:spPr>
          <a:xfrm>
            <a:off x="9315450" y="2838450"/>
            <a:ext cx="990600" cy="57150"/>
          </a:xfrm>
          <a:prstGeom prst="rect">
            <a:avLst/>
          </a:prstGeom>
          <a:solidFill>
            <a:srgbClr val="46B37B">
              <a:alpha val="95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5FE4FE-1AFA-421D-9CD6-06514911F4C5}"/>
              </a:ext>
            </a:extLst>
          </p:cNvPr>
          <p:cNvSpPr>
            <a:spLocks noGrp="1"/>
          </p:cNvSpPr>
          <p:nvPr/>
        </p:nvSpPr>
        <p:spPr>
          <a:xfrm>
            <a:off x="9315450" y="3028950"/>
            <a:ext cx="1104900" cy="57150"/>
          </a:xfrm>
          <a:prstGeom prst="rect">
            <a:avLst/>
          </a:prstGeom>
          <a:solidFill>
            <a:srgbClr val="5F96FF">
              <a:alpha val="86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2D042E4-FFC0-4DEA-8E0F-C2F16C2F0407}"/>
              </a:ext>
            </a:extLst>
          </p:cNvPr>
          <p:cNvSpPr>
            <a:spLocks noGrp="1"/>
          </p:cNvSpPr>
          <p:nvPr/>
        </p:nvSpPr>
        <p:spPr>
          <a:xfrm>
            <a:off x="9315450" y="32385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9BA7B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9BA7BA"/>
                </a:solidFill>
                <a:latin typeface="Aptos"/>
                <a:ea typeface="Aptos"/>
                <a:cs typeface="Aptos"/>
              </a:rPr>
              <a:t>Decision-first UI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CA7231C-4E34-4538-B52E-4E85EE762FFB}"/>
              </a:ext>
            </a:extLst>
          </p:cNvPr>
          <p:cNvSpPr>
            <a:spLocks noGrp="1"/>
          </p:cNvSpPr>
          <p:nvPr/>
        </p:nvSpPr>
        <p:spPr>
          <a:xfrm>
            <a:off x="571500" y="4743450"/>
            <a:ext cx="1847850" cy="1123950"/>
          </a:xfrm>
          <a:prstGeom prst="roundRect">
            <a:avLst>
              <a:gd name="adj" fmla="val 18644"/>
            </a:avLst>
          </a:prstGeom>
          <a:solidFill>
            <a:srgbClr val="161D26">
              <a:alpha val="9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CB8F2F5-4AD0-44C8-9DF3-E1FA106C91EA}"/>
              </a:ext>
            </a:extLst>
          </p:cNvPr>
          <p:cNvSpPr>
            <a:spLocks noGrp="1"/>
          </p:cNvSpPr>
          <p:nvPr/>
        </p:nvSpPr>
        <p:spPr>
          <a:xfrm>
            <a:off x="571500" y="4743450"/>
            <a:ext cx="1847850" cy="28575"/>
          </a:xfrm>
          <a:prstGeom prst="rect">
            <a:avLst/>
          </a:prstGeom>
          <a:solidFill>
            <a:srgbClr val="46B37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F375FC-EBDC-4E18-806B-C4ACFA1E7449}"/>
              </a:ext>
            </a:extLst>
          </p:cNvPr>
          <p:cNvSpPr>
            <a:spLocks noGrp="1"/>
          </p:cNvSpPr>
          <p:nvPr/>
        </p:nvSpPr>
        <p:spPr>
          <a:xfrm>
            <a:off x="742950" y="49149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Clear flow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B06921D-DCD2-4BB0-AD9F-9A8C36264C80}"/>
              </a:ext>
            </a:extLst>
          </p:cNvPr>
          <p:cNvSpPr>
            <a:spLocks noGrp="1"/>
          </p:cNvSpPr>
          <p:nvPr/>
        </p:nvSpPr>
        <p:spPr>
          <a:xfrm>
            <a:off x="742950" y="5238750"/>
            <a:ext cx="15049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9BA7B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7BA"/>
                </a:solidFill>
                <a:latin typeface="Aptos"/>
                <a:ea typeface="Aptos"/>
                <a:cs typeface="Aptos"/>
              </a:rPr>
              <a:t>One path from browsing to comparing.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FDC663E-8F75-4A75-B673-A18A576DA7AA}"/>
              </a:ext>
            </a:extLst>
          </p:cNvPr>
          <p:cNvSpPr>
            <a:spLocks noGrp="1"/>
          </p:cNvSpPr>
          <p:nvPr/>
        </p:nvSpPr>
        <p:spPr>
          <a:xfrm>
            <a:off x="2571750" y="4743450"/>
            <a:ext cx="1847850" cy="1123950"/>
          </a:xfrm>
          <a:prstGeom prst="roundRect">
            <a:avLst>
              <a:gd name="adj" fmla="val 18644"/>
            </a:avLst>
          </a:prstGeom>
          <a:solidFill>
            <a:srgbClr val="161D26">
              <a:alpha val="9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16AD62-8EAF-4EC9-BAC1-F14EC19EB205}"/>
              </a:ext>
            </a:extLst>
          </p:cNvPr>
          <p:cNvSpPr>
            <a:spLocks noGrp="1"/>
          </p:cNvSpPr>
          <p:nvPr/>
        </p:nvSpPr>
        <p:spPr>
          <a:xfrm>
            <a:off x="2571750" y="4743450"/>
            <a:ext cx="1847850" cy="28575"/>
          </a:xfrm>
          <a:prstGeom prst="rect">
            <a:avLst/>
          </a:prstGeom>
          <a:solidFill>
            <a:srgbClr val="5F96F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5A21753-3A41-4724-820F-48A50A821F25}"/>
              </a:ext>
            </a:extLst>
          </p:cNvPr>
          <p:cNvSpPr>
            <a:spLocks noGrp="1"/>
          </p:cNvSpPr>
          <p:nvPr/>
        </p:nvSpPr>
        <p:spPr>
          <a:xfrm>
            <a:off x="2743200" y="49149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Fast decisions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7EE0EFF-47F6-4ACA-AE8A-37F74C8D1C9D}"/>
              </a:ext>
            </a:extLst>
          </p:cNvPr>
          <p:cNvSpPr>
            <a:spLocks noGrp="1"/>
          </p:cNvSpPr>
          <p:nvPr/>
        </p:nvSpPr>
        <p:spPr>
          <a:xfrm>
            <a:off x="2743200" y="5238750"/>
            <a:ext cx="15049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9BA7B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7BA"/>
                </a:solidFill>
                <a:latin typeface="Aptos"/>
                <a:ea typeface="Aptos"/>
                <a:cs typeface="Aptos"/>
              </a:rPr>
              <a:t>Less clutter, less second-guessing.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D4D25EA-8314-4A32-9472-F94B5034DFB7}"/>
              </a:ext>
            </a:extLst>
          </p:cNvPr>
          <p:cNvSpPr>
            <a:spLocks noGrp="1"/>
          </p:cNvSpPr>
          <p:nvPr/>
        </p:nvSpPr>
        <p:spPr>
          <a:xfrm>
            <a:off x="4572000" y="4743450"/>
            <a:ext cx="1847850" cy="1123950"/>
          </a:xfrm>
          <a:prstGeom prst="roundRect">
            <a:avLst>
              <a:gd name="adj" fmla="val 18644"/>
            </a:avLst>
          </a:prstGeom>
          <a:solidFill>
            <a:srgbClr val="161D26">
              <a:alpha val="9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351EF80-E87A-4823-9E04-FB631D8F81C0}"/>
              </a:ext>
            </a:extLst>
          </p:cNvPr>
          <p:cNvSpPr>
            <a:spLocks noGrp="1"/>
          </p:cNvSpPr>
          <p:nvPr/>
        </p:nvSpPr>
        <p:spPr>
          <a:xfrm>
            <a:off x="4572000" y="4743450"/>
            <a:ext cx="1847850" cy="28575"/>
          </a:xfrm>
          <a:prstGeom prst="rect">
            <a:avLst/>
          </a:prstGeom>
          <a:solidFill>
            <a:srgbClr val="B8D9C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148119E-216D-4731-BAA0-D9ED3D19B260}"/>
              </a:ext>
            </a:extLst>
          </p:cNvPr>
          <p:cNvSpPr>
            <a:spLocks noGrp="1"/>
          </p:cNvSpPr>
          <p:nvPr/>
        </p:nvSpPr>
        <p:spPr>
          <a:xfrm>
            <a:off x="4743450" y="49149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Target users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A2146B5-AD7F-4FE0-8502-5CCCCAA97D9E}"/>
              </a:ext>
            </a:extLst>
          </p:cNvPr>
          <p:cNvSpPr>
            <a:spLocks noGrp="1"/>
          </p:cNvSpPr>
          <p:nvPr/>
        </p:nvSpPr>
        <p:spPr>
          <a:xfrm>
            <a:off x="4743450" y="5238750"/>
            <a:ext cx="15049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9BA7B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7BA"/>
                </a:solidFill>
                <a:latin typeface="Aptos"/>
                <a:ea typeface="Aptos"/>
                <a:cs typeface="Aptos"/>
              </a:rPr>
              <a:t>Helpful for students and casual visitors.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3C3EA60-3EA4-45E0-B7EA-B248B1AD06D5}"/>
              </a:ext>
            </a:extLst>
          </p:cNvPr>
          <p:cNvSpPr>
            <a:spLocks noGrp="1"/>
          </p:cNvSpPr>
          <p:nvPr/>
        </p:nvSpPr>
        <p:spPr>
          <a:xfrm>
            <a:off x="552450" y="6172200"/>
            <a:ext cx="8286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A0F197-4E5E-4773-B256-4F75EBAAEA05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828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BA7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7BA"/>
                </a:solidFill>
                <a:latin typeface="Aptos"/>
                <a:ea typeface="Aptos"/>
                <a:cs typeface="Aptos"/>
              </a:rPr>
              <a:t>Website defense deck | minimal, card-based, and visually aligned to the site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4E2CABD-D0F3-43A5-8955-054EF4F16FEF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BA7B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9BA7B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0250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930C9795-D5C7-4F76-86B2-AB72F8933B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2A1910F-6BD1-45D6-B852-9049DB41BA0A}"/>
              </a:ext>
            </a:extLst>
          </p:cNvPr>
          <p:cNvSpPr>
            <a:spLocks noGrp="1"/>
          </p:cNvSpPr>
          <p:nvPr/>
        </p:nvSpPr>
        <p:spPr>
          <a:xfrm>
            <a:off x="-1238250" y="-1047750"/>
            <a:ext cx="4953000" cy="4953000"/>
          </a:xfrm>
          <a:prstGeom prst="ellipse">
            <a:avLst/>
          </a:prstGeom>
          <a:solidFill>
            <a:srgbClr val="46B37B">
              <a:alpha val="18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20BE32E-75D5-4FC9-AE57-573848341C99}"/>
              </a:ext>
            </a:extLst>
          </p:cNvPr>
          <p:cNvSpPr>
            <a:spLocks noGrp="1"/>
          </p:cNvSpPr>
          <p:nvPr/>
        </p:nvSpPr>
        <p:spPr>
          <a:xfrm>
            <a:off x="8667750" y="-666750"/>
            <a:ext cx="3714750" cy="3714750"/>
          </a:xfrm>
          <a:prstGeom prst="ellipse">
            <a:avLst/>
          </a:prstGeom>
          <a:solidFill>
            <a:srgbClr val="5F96FF">
              <a:alpha val="12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94132FE-4FE6-4A92-B1D6-2D3AE311E348}"/>
              </a:ext>
            </a:extLst>
          </p:cNvPr>
          <p:cNvSpPr>
            <a:spLocks noGrp="1"/>
          </p:cNvSpPr>
          <p:nvPr/>
        </p:nvSpPr>
        <p:spPr>
          <a:xfrm>
            <a:off x="4000500" y="4953000"/>
            <a:ext cx="5905500" cy="2857500"/>
          </a:xfrm>
          <a:prstGeom prst="ellipse">
            <a:avLst/>
          </a:prstGeom>
          <a:solidFill>
            <a:srgbClr val="FFFFFF">
              <a:alpha val="4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836930-7E78-4EF5-ADF1-4E82F6569B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>
              <a:alpha val="1200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41BC82-EAD1-49B1-B7E2-83708635C7EF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1676400" cy="323850"/>
          </a:xfrm>
          <a:prstGeom prst="roundRect">
            <a:avLst>
              <a:gd name="adj" fmla="val 50000"/>
            </a:avLst>
          </a:prstGeom>
          <a:solidFill>
            <a:srgbClr val="46B37B">
              <a:alpha val="14000"/>
            </a:srgbClr>
          </a:solidFill>
          <a:ln w="9525">
            <a:solidFill>
              <a:srgbClr val="46B37B">
                <a:alpha val="2400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6496EA-3BEE-4E1B-9CFF-66FB91F6DD83}"/>
              </a:ext>
            </a:extLst>
          </p:cNvPr>
          <p:cNvSpPr>
            <a:spLocks noGrp="1"/>
          </p:cNvSpPr>
          <p:nvPr/>
        </p:nvSpPr>
        <p:spPr>
          <a:xfrm>
            <a:off x="628650" y="46672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46B3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6B37B"/>
                </a:solidFill>
                <a:latin typeface="Aptos"/>
                <a:ea typeface="Aptos"/>
                <a:cs typeface="Aptos"/>
              </a:rPr>
              <a:t>WEBSITE RATIONALE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E70E1433-0F0D-2063-D011-04D4F98DF04E}"/>
              </a:ext>
            </a:extLst>
          </p:cNvPr>
          <p:cNvSpPr>
            <a:spLocks noGrp="1"/>
          </p:cNvSpPr>
          <p:nvPr/>
        </p:nvSpPr>
        <p:spPr>
          <a:xfrm>
            <a:off x="476250" y="895350"/>
            <a:ext cx="2844920" cy="1066800"/>
          </a:xfrm>
          <a:prstGeom prst="roundRect">
            <a:avLst>
              <a:gd name="adj" fmla="val 16667"/>
            </a:avLst>
          </a:prstGeom>
          <a:solidFill>
            <a:srgbClr val="161D26">
              <a:alpha val="9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2F345E-5698-4AF6-A457-EE27A4BFC712}"/>
              </a:ext>
            </a:extLst>
          </p:cNvPr>
          <p:cNvSpPr>
            <a:spLocks noGrp="1"/>
          </p:cNvSpPr>
          <p:nvPr/>
        </p:nvSpPr>
        <p:spPr>
          <a:xfrm>
            <a:off x="552450" y="933450"/>
            <a:ext cx="8858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marL="285750" indent="-285750" algn="l">
              <a:buFont typeface="Arial" panose="020B0604020202020204" pitchFamily="34" charset="0"/>
              <a:buChar char="•"/>
              <a:defRPr sz="12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dirty="0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Sticky header on desktop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2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dirty="0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Bottom tab bar on mobile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2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dirty="0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Homepage introduces the idea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2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dirty="0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Dashboard handles browsing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275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dirty="0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Compare page handles decisions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EC47EE-5AD0-4A2D-9F2A-513EC59F67EB}"/>
              </a:ext>
            </a:extLst>
          </p:cNvPr>
          <p:cNvSpPr>
            <a:spLocks noGrp="1"/>
          </p:cNvSpPr>
          <p:nvPr/>
        </p:nvSpPr>
        <p:spPr>
          <a:xfrm>
            <a:off x="571500" y="2095500"/>
            <a:ext cx="800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9BA7BA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A7BA"/>
                </a:solidFill>
                <a:latin typeface="Aptos"/>
                <a:ea typeface="Aptos"/>
                <a:cs typeface="Aptos"/>
              </a:rPr>
              <a:t>Clear sections, easy navigation, mobile-friendly flow.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9EAD77-0555-4528-8516-6482DC785798}"/>
              </a:ext>
            </a:extLst>
          </p:cNvPr>
          <p:cNvSpPr>
            <a:spLocks noGrp="1"/>
          </p:cNvSpPr>
          <p:nvPr/>
        </p:nvSpPr>
        <p:spPr>
          <a:xfrm>
            <a:off x="552450" y="2381250"/>
            <a:ext cx="3333750" cy="1257300"/>
          </a:xfrm>
          <a:prstGeom prst="roundRect">
            <a:avLst>
              <a:gd name="adj" fmla="val 16667"/>
            </a:avLst>
          </a:prstGeom>
          <a:solidFill>
            <a:srgbClr val="161D26">
              <a:alpha val="9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05C25A-1CA4-4531-A74B-31F456901999}"/>
              </a:ext>
            </a:extLst>
          </p:cNvPr>
          <p:cNvSpPr>
            <a:spLocks noGrp="1"/>
          </p:cNvSpPr>
          <p:nvPr/>
        </p:nvSpPr>
        <p:spPr>
          <a:xfrm>
            <a:off x="552450" y="2381250"/>
            <a:ext cx="3333750" cy="28575"/>
          </a:xfrm>
          <a:prstGeom prst="rect">
            <a:avLst/>
          </a:prstGeom>
          <a:solidFill>
            <a:srgbClr val="46B37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CFCA86-83CF-47C7-A632-BBEAD66094D8}"/>
              </a:ext>
            </a:extLst>
          </p:cNvPr>
          <p:cNvSpPr>
            <a:spLocks noGrp="1"/>
          </p:cNvSpPr>
          <p:nvPr/>
        </p:nvSpPr>
        <p:spPr>
          <a:xfrm>
            <a:off x="723900" y="2552700"/>
            <a:ext cx="2990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Purpose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B6E812-82D9-497A-AC91-8D9558291CCD}"/>
              </a:ext>
            </a:extLst>
          </p:cNvPr>
          <p:cNvSpPr>
            <a:spLocks noGrp="1"/>
          </p:cNvSpPr>
          <p:nvPr/>
        </p:nvSpPr>
        <p:spPr>
          <a:xfrm>
            <a:off x="723900" y="2876550"/>
            <a:ext cx="29908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9BA7B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7BA"/>
                </a:solidFill>
                <a:latin typeface="Aptos"/>
                <a:ea typeface="Aptos"/>
                <a:cs typeface="Aptos"/>
              </a:rPr>
              <a:t>Make phone selection simpler and faster.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C2B9AD6-7939-4924-A8DB-7C2DED2303E7}"/>
              </a:ext>
            </a:extLst>
          </p:cNvPr>
          <p:cNvSpPr>
            <a:spLocks noGrp="1"/>
          </p:cNvSpPr>
          <p:nvPr/>
        </p:nvSpPr>
        <p:spPr>
          <a:xfrm>
            <a:off x="552450" y="3771900"/>
            <a:ext cx="3333750" cy="1257300"/>
          </a:xfrm>
          <a:prstGeom prst="roundRect">
            <a:avLst>
              <a:gd name="adj" fmla="val 16667"/>
            </a:avLst>
          </a:prstGeom>
          <a:solidFill>
            <a:srgbClr val="161D26">
              <a:alpha val="9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EB7E1F-E6B2-4AC6-AB71-32D39837DAD2}"/>
              </a:ext>
            </a:extLst>
          </p:cNvPr>
          <p:cNvSpPr>
            <a:spLocks noGrp="1"/>
          </p:cNvSpPr>
          <p:nvPr/>
        </p:nvSpPr>
        <p:spPr>
          <a:xfrm>
            <a:off x="552450" y="3771900"/>
            <a:ext cx="3333750" cy="28575"/>
          </a:xfrm>
          <a:prstGeom prst="rect">
            <a:avLst/>
          </a:prstGeom>
          <a:solidFill>
            <a:srgbClr val="46B37B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BD07AF-6977-40E7-AF0D-D7878CDFEE51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2990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Target users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2618A3-0989-4AE2-BFF9-0A17C2CB9962}"/>
              </a:ext>
            </a:extLst>
          </p:cNvPr>
          <p:cNvSpPr>
            <a:spLocks noGrp="1"/>
          </p:cNvSpPr>
          <p:nvPr/>
        </p:nvSpPr>
        <p:spPr>
          <a:xfrm>
            <a:off x="723900" y="4267200"/>
            <a:ext cx="29908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9BA7B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7BA"/>
                </a:solidFill>
                <a:latin typeface="Aptos"/>
                <a:ea typeface="Aptos"/>
                <a:cs typeface="Aptos"/>
              </a:rPr>
              <a:t>Phone shoppers, students, and casual visitors.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E75074A-A759-4152-BC7E-52532823088C}"/>
              </a:ext>
            </a:extLst>
          </p:cNvPr>
          <p:cNvSpPr>
            <a:spLocks noGrp="1"/>
          </p:cNvSpPr>
          <p:nvPr/>
        </p:nvSpPr>
        <p:spPr>
          <a:xfrm>
            <a:off x="552450" y="5162550"/>
            <a:ext cx="3333750" cy="1123950"/>
          </a:xfrm>
          <a:prstGeom prst="roundRect">
            <a:avLst>
              <a:gd name="adj" fmla="val 18644"/>
            </a:avLst>
          </a:prstGeom>
          <a:solidFill>
            <a:srgbClr val="161D26">
              <a:alpha val="9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4833EA-8B28-4725-A0F8-8557E1657291}"/>
              </a:ext>
            </a:extLst>
          </p:cNvPr>
          <p:cNvSpPr>
            <a:spLocks noGrp="1"/>
          </p:cNvSpPr>
          <p:nvPr/>
        </p:nvSpPr>
        <p:spPr>
          <a:xfrm>
            <a:off x="552450" y="5162550"/>
            <a:ext cx="3333750" cy="28575"/>
          </a:xfrm>
          <a:prstGeom prst="rect">
            <a:avLst/>
          </a:prstGeom>
          <a:solidFill>
            <a:srgbClr val="5F96F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B21D40-624E-4996-98A3-8548A457F1ED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2990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HTML + CSS idea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6894AA-7256-4145-98C7-28D3F8329348}"/>
              </a:ext>
            </a:extLst>
          </p:cNvPr>
          <p:cNvSpPr>
            <a:spLocks noGrp="1"/>
          </p:cNvSpPr>
          <p:nvPr/>
        </p:nvSpPr>
        <p:spPr>
          <a:xfrm>
            <a:off x="723900" y="5657850"/>
            <a:ext cx="2990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9BA7B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BA7BA"/>
                </a:solidFill>
                <a:latin typeface="Aptos"/>
                <a:ea typeface="Aptos"/>
                <a:cs typeface="Aptos"/>
              </a:rPr>
              <a:t>Semantic sections, Grid, Flexbox, and media queries.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FDA7B87-21F8-4F1B-A486-A8BFCA88A7BE}"/>
              </a:ext>
            </a:extLst>
          </p:cNvPr>
          <p:cNvSpPr>
            <a:spLocks noGrp="1"/>
          </p:cNvSpPr>
          <p:nvPr/>
        </p:nvSpPr>
        <p:spPr>
          <a:xfrm>
            <a:off x="4286250" y="2381250"/>
            <a:ext cx="7353300" cy="3905250"/>
          </a:xfrm>
          <a:prstGeom prst="roundRect">
            <a:avLst>
              <a:gd name="adj" fmla="val 6829"/>
            </a:avLst>
          </a:prstGeom>
          <a:solidFill>
            <a:srgbClr val="141920">
              <a:alpha val="92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33976C-5B60-4EE7-B7CD-C26AFA9E730D}"/>
              </a:ext>
            </a:extLst>
          </p:cNvPr>
          <p:cNvSpPr>
            <a:spLocks noGrp="1"/>
          </p:cNvSpPr>
          <p:nvPr/>
        </p:nvSpPr>
        <p:spPr>
          <a:xfrm>
            <a:off x="4533900" y="26098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6B3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6B37B"/>
                </a:solidFill>
                <a:latin typeface="Aptos"/>
                <a:ea typeface="Aptos"/>
                <a:cs typeface="Aptos"/>
              </a:rPr>
              <a:t>Navigation logic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70703A-598C-467E-A856-712FDD64126C}"/>
              </a:ext>
            </a:extLst>
          </p:cNvPr>
          <p:cNvSpPr>
            <a:spLocks noGrp="1"/>
          </p:cNvSpPr>
          <p:nvPr/>
        </p:nvSpPr>
        <p:spPr>
          <a:xfrm>
            <a:off x="4533900" y="2876550"/>
            <a:ext cx="3238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9BA7BA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BA7BA"/>
                </a:solidFill>
                <a:latin typeface="Aptos"/>
                <a:ea typeface="Aptos"/>
                <a:cs typeface="Aptos"/>
              </a:rPr>
              <a:t>Desktop uses a sticky header, while mobile uses a bottom tab bar so the main actions stay easy to reach.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E10D4D-D8C0-4762-8BE2-5A8DA25E3AB8}"/>
              </a:ext>
            </a:extLst>
          </p:cNvPr>
          <p:cNvSpPr>
            <a:spLocks noGrp="1"/>
          </p:cNvSpPr>
          <p:nvPr/>
        </p:nvSpPr>
        <p:spPr>
          <a:xfrm>
            <a:off x="4533900" y="327660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46B37B">
              <a:alpha val="10000"/>
            </a:srgbClr>
          </a:solidFill>
          <a:ln w="9525">
            <a:solidFill>
              <a:srgbClr val="46B37B">
                <a:alpha val="18000"/>
              </a:srgbClr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969FF8-CEB8-4A56-A709-EC2EA0ADAD6B}"/>
              </a:ext>
            </a:extLst>
          </p:cNvPr>
          <p:cNvSpPr>
            <a:spLocks noGrp="1"/>
          </p:cNvSpPr>
          <p:nvPr/>
        </p:nvSpPr>
        <p:spPr>
          <a:xfrm>
            <a:off x="4610100" y="3324225"/>
            <a:ext cx="971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765" b="1">
                <a:solidFill>
                  <a:srgbClr val="46B37B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46B37B"/>
                </a:solidFill>
                <a:latin typeface="Aptos"/>
                <a:ea typeface="Aptos"/>
                <a:cs typeface="Aptos"/>
              </a:rPr>
              <a:t>Homepage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C0F6EA1-B861-4358-97B9-670A19386CB8}"/>
              </a:ext>
            </a:extLst>
          </p:cNvPr>
          <p:cNvSpPr>
            <a:spLocks noGrp="1"/>
          </p:cNvSpPr>
          <p:nvPr/>
        </p:nvSpPr>
        <p:spPr>
          <a:xfrm>
            <a:off x="5753100" y="327660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5F96FF">
              <a:alpha val="10000"/>
            </a:srgbClr>
          </a:solidFill>
          <a:ln w="9525">
            <a:solidFill>
              <a:srgbClr val="5F96FF">
                <a:alpha val="18000"/>
              </a:srgbClr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CE57AE-3AC5-4CCD-BEA4-A97258C22301}"/>
              </a:ext>
            </a:extLst>
          </p:cNvPr>
          <p:cNvSpPr>
            <a:spLocks noGrp="1"/>
          </p:cNvSpPr>
          <p:nvPr/>
        </p:nvSpPr>
        <p:spPr>
          <a:xfrm>
            <a:off x="5829300" y="3324225"/>
            <a:ext cx="971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765" b="1">
                <a:solidFill>
                  <a:srgbClr val="5F96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5F96FF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FE2755C-1353-47BC-AE94-AE4A1A01B86E}"/>
              </a:ext>
            </a:extLst>
          </p:cNvPr>
          <p:cNvSpPr>
            <a:spLocks noGrp="1"/>
          </p:cNvSpPr>
          <p:nvPr/>
        </p:nvSpPr>
        <p:spPr>
          <a:xfrm>
            <a:off x="6972300" y="327660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B8D9CA">
              <a:alpha val="10000"/>
            </a:srgbClr>
          </a:solidFill>
          <a:ln w="9525">
            <a:solidFill>
              <a:srgbClr val="B8D9CA">
                <a:alpha val="18000"/>
              </a:srgbClr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FE0EAD-2CE9-4640-B0BC-D6F50454AD9D}"/>
              </a:ext>
            </a:extLst>
          </p:cNvPr>
          <p:cNvSpPr>
            <a:spLocks noGrp="1"/>
          </p:cNvSpPr>
          <p:nvPr/>
        </p:nvSpPr>
        <p:spPr>
          <a:xfrm>
            <a:off x="7048500" y="3324225"/>
            <a:ext cx="971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765" b="1">
                <a:solidFill>
                  <a:srgbClr val="B8D9C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B8D9CA"/>
                </a:solidFill>
                <a:latin typeface="Aptos"/>
                <a:ea typeface="Aptos"/>
                <a:cs typeface="Aptos"/>
              </a:rPr>
              <a:t>Compare page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7360205-709C-452A-8A2A-64CD9C305B81}"/>
              </a:ext>
            </a:extLst>
          </p:cNvPr>
          <p:cNvSpPr>
            <a:spLocks noGrp="1"/>
          </p:cNvSpPr>
          <p:nvPr/>
        </p:nvSpPr>
        <p:spPr>
          <a:xfrm>
            <a:off x="4533900" y="3581400"/>
            <a:ext cx="2381250" cy="952500"/>
          </a:xfrm>
          <a:prstGeom prst="roundRect">
            <a:avLst>
              <a:gd name="adj" fmla="val 20000"/>
            </a:avLst>
          </a:prstGeom>
          <a:solidFill>
            <a:srgbClr val="161D26">
              <a:alpha val="96000"/>
            </a:srgbClr>
          </a:solidFill>
          <a:ln w="9525">
            <a:solidFill>
              <a:srgbClr val="FFFFFF">
                <a:alpha val="9000"/>
              </a:srgbClr>
            </a:solidFill>
          </a:ln>
        </p:spPr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62361BF-20C9-4B31-BCCD-5A1C5111CD36}"/>
              </a:ext>
            </a:extLst>
          </p:cNvPr>
          <p:cNvSpPr>
            <a:spLocks noGrp="1"/>
          </p:cNvSpPr>
          <p:nvPr/>
        </p:nvSpPr>
        <p:spPr>
          <a:xfrm>
            <a:off x="4686300" y="371475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46B37B">
              <a:alpha val="14000"/>
            </a:srgbClr>
          </a:solidFill>
          <a:ln w="9525">
            <a:solidFill>
              <a:srgbClr val="46B37B">
                <a:alpha val="24000"/>
              </a:srgbClr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A52949D-B5E4-4ECA-A1CC-C9FD78433A2D}"/>
              </a:ext>
            </a:extLst>
          </p:cNvPr>
          <p:cNvSpPr>
            <a:spLocks noGrp="1"/>
          </p:cNvSpPr>
          <p:nvPr/>
        </p:nvSpPr>
        <p:spPr>
          <a:xfrm>
            <a:off x="4762500" y="376237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46B3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6B3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C80E50B-6DF9-48C7-8155-0CEAFB4C117E}"/>
              </a:ext>
            </a:extLst>
          </p:cNvPr>
          <p:cNvSpPr>
            <a:spLocks noGrp="1"/>
          </p:cNvSpPr>
          <p:nvPr/>
        </p:nvSpPr>
        <p:spPr>
          <a:xfrm>
            <a:off x="4686300" y="403860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Browse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5E4F158-399A-46E2-86CB-0030E7718778}"/>
              </a:ext>
            </a:extLst>
          </p:cNvPr>
          <p:cNvSpPr>
            <a:spLocks noGrp="1"/>
          </p:cNvSpPr>
          <p:nvPr/>
        </p:nvSpPr>
        <p:spPr>
          <a:xfrm>
            <a:off x="4686300" y="42672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9BA7B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9BA7BA"/>
                </a:solidFill>
                <a:latin typeface="Aptos"/>
                <a:ea typeface="Aptos"/>
                <a:cs typeface="Aptos"/>
              </a:rPr>
              <a:t>Start with a clean catalog.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2FE435E-BF2E-4E97-949F-6992F8981CFA}"/>
              </a:ext>
            </a:extLst>
          </p:cNvPr>
          <p:cNvSpPr>
            <a:spLocks noGrp="1"/>
          </p:cNvSpPr>
          <p:nvPr/>
        </p:nvSpPr>
        <p:spPr>
          <a:xfrm>
            <a:off x="7277100" y="3581400"/>
            <a:ext cx="2381250" cy="952500"/>
          </a:xfrm>
          <a:prstGeom prst="roundRect">
            <a:avLst>
              <a:gd name="adj" fmla="val 20000"/>
            </a:avLst>
          </a:prstGeom>
          <a:solidFill>
            <a:srgbClr val="161D26">
              <a:alpha val="96000"/>
            </a:srgbClr>
          </a:solidFill>
          <a:ln w="9525">
            <a:solidFill>
              <a:srgbClr val="FFFFFF">
                <a:alpha val="9000"/>
              </a:srgbClr>
            </a:solidFill>
          </a:ln>
        </p:spPr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5A5AA00-8B85-4805-801C-AEE671C6AC71}"/>
              </a:ext>
            </a:extLst>
          </p:cNvPr>
          <p:cNvSpPr>
            <a:spLocks noGrp="1"/>
          </p:cNvSpPr>
          <p:nvPr/>
        </p:nvSpPr>
        <p:spPr>
          <a:xfrm>
            <a:off x="7429500" y="371475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5F96FF">
              <a:alpha val="14000"/>
            </a:srgbClr>
          </a:solidFill>
          <a:ln w="9525">
            <a:solidFill>
              <a:srgbClr val="5F96FF">
                <a:alpha val="22000"/>
              </a:srgbClr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2011281-58BF-4FF8-8357-67AA107F83D8}"/>
              </a:ext>
            </a:extLst>
          </p:cNvPr>
          <p:cNvSpPr>
            <a:spLocks noGrp="1"/>
          </p:cNvSpPr>
          <p:nvPr/>
        </p:nvSpPr>
        <p:spPr>
          <a:xfrm>
            <a:off x="7505700" y="376237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5F96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9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10AB59C-B323-4DBB-B59B-DA79238E877B}"/>
              </a:ext>
            </a:extLst>
          </p:cNvPr>
          <p:cNvSpPr>
            <a:spLocks noGrp="1"/>
          </p:cNvSpPr>
          <p:nvPr/>
        </p:nvSpPr>
        <p:spPr>
          <a:xfrm>
            <a:off x="7429500" y="403860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Compare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4635AF5-5B8F-4AE3-BE92-C674B5483691}"/>
              </a:ext>
            </a:extLst>
          </p:cNvPr>
          <p:cNvSpPr>
            <a:spLocks noGrp="1"/>
          </p:cNvSpPr>
          <p:nvPr/>
        </p:nvSpPr>
        <p:spPr>
          <a:xfrm>
            <a:off x="7429500" y="42672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9BA7B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9BA7BA"/>
                </a:solidFill>
                <a:latin typeface="Aptos"/>
                <a:ea typeface="Aptos"/>
                <a:cs typeface="Aptos"/>
              </a:rPr>
              <a:t>See important details side by side.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AC91F04-AA74-4E98-A17F-22108C729133}"/>
              </a:ext>
            </a:extLst>
          </p:cNvPr>
          <p:cNvSpPr>
            <a:spLocks noGrp="1"/>
          </p:cNvSpPr>
          <p:nvPr/>
        </p:nvSpPr>
        <p:spPr>
          <a:xfrm>
            <a:off x="4533900" y="4781550"/>
            <a:ext cx="2381250" cy="952500"/>
          </a:xfrm>
          <a:prstGeom prst="roundRect">
            <a:avLst>
              <a:gd name="adj" fmla="val 20000"/>
            </a:avLst>
          </a:prstGeom>
          <a:solidFill>
            <a:srgbClr val="161D26">
              <a:alpha val="96000"/>
            </a:srgbClr>
          </a:solidFill>
          <a:ln w="9525">
            <a:solidFill>
              <a:srgbClr val="FFFFFF">
                <a:alpha val="9000"/>
              </a:srgbClr>
            </a:solidFill>
          </a:ln>
        </p:spPr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61479D6-4264-4370-835D-4DB9CD0D8DC8}"/>
              </a:ext>
            </a:extLst>
          </p:cNvPr>
          <p:cNvSpPr>
            <a:spLocks noGrp="1"/>
          </p:cNvSpPr>
          <p:nvPr/>
        </p:nvSpPr>
        <p:spPr>
          <a:xfrm>
            <a:off x="4686300" y="491490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46B37B">
              <a:alpha val="14000"/>
            </a:srgbClr>
          </a:solidFill>
          <a:ln w="9525">
            <a:solidFill>
              <a:srgbClr val="46B37B">
                <a:alpha val="24000"/>
              </a:srgbClr>
            </a:solidFill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F0335C4-FE5A-4921-B0AB-32DCBF972EA7}"/>
              </a:ext>
            </a:extLst>
          </p:cNvPr>
          <p:cNvSpPr>
            <a:spLocks noGrp="1"/>
          </p:cNvSpPr>
          <p:nvPr/>
        </p:nvSpPr>
        <p:spPr>
          <a:xfrm>
            <a:off x="4762500" y="49625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46B3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6B3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72D121C-620E-4DDC-B4AA-F6ADCC0DDA94}"/>
              </a:ext>
            </a:extLst>
          </p:cNvPr>
          <p:cNvSpPr>
            <a:spLocks noGrp="1"/>
          </p:cNvSpPr>
          <p:nvPr/>
        </p:nvSpPr>
        <p:spPr>
          <a:xfrm>
            <a:off x="4686300" y="523875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Save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A63E0FA-F67E-4369-BE31-14E3F1DA3211}"/>
              </a:ext>
            </a:extLst>
          </p:cNvPr>
          <p:cNvSpPr>
            <a:spLocks noGrp="1"/>
          </p:cNvSpPr>
          <p:nvPr/>
        </p:nvSpPr>
        <p:spPr>
          <a:xfrm>
            <a:off x="4686300" y="54673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9BA7B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9BA7BA"/>
                </a:solidFill>
                <a:latin typeface="Aptos"/>
                <a:ea typeface="Aptos"/>
                <a:cs typeface="Aptos"/>
              </a:rPr>
              <a:t>Keep favorites for later.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F43D0ED-36E7-43A9-83B4-E1A9406FC65C}"/>
              </a:ext>
            </a:extLst>
          </p:cNvPr>
          <p:cNvSpPr>
            <a:spLocks noGrp="1"/>
          </p:cNvSpPr>
          <p:nvPr/>
        </p:nvSpPr>
        <p:spPr>
          <a:xfrm>
            <a:off x="7277100" y="4781550"/>
            <a:ext cx="2381250" cy="952500"/>
          </a:xfrm>
          <a:prstGeom prst="roundRect">
            <a:avLst>
              <a:gd name="adj" fmla="val 20000"/>
            </a:avLst>
          </a:prstGeom>
          <a:solidFill>
            <a:srgbClr val="161D26">
              <a:alpha val="96000"/>
            </a:srgbClr>
          </a:solidFill>
          <a:ln w="9525">
            <a:solidFill>
              <a:srgbClr val="FFFFFF">
                <a:alpha val="9000"/>
              </a:srgbClr>
            </a:solidFill>
          </a:ln>
        </p:spPr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FD3D778-4858-43E4-AE21-2CD75B3D54AC}"/>
              </a:ext>
            </a:extLst>
          </p:cNvPr>
          <p:cNvSpPr>
            <a:spLocks noGrp="1"/>
          </p:cNvSpPr>
          <p:nvPr/>
        </p:nvSpPr>
        <p:spPr>
          <a:xfrm>
            <a:off x="7429500" y="491490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5F96FF">
              <a:alpha val="14000"/>
            </a:srgbClr>
          </a:solidFill>
          <a:ln w="9525">
            <a:solidFill>
              <a:srgbClr val="5F96FF">
                <a:alpha val="22000"/>
              </a:srgbClr>
            </a:solidFill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CE2F06D-3A42-409C-A0A7-98DEDF9902D1}"/>
              </a:ext>
            </a:extLst>
          </p:cNvPr>
          <p:cNvSpPr>
            <a:spLocks noGrp="1"/>
          </p:cNvSpPr>
          <p:nvPr/>
        </p:nvSpPr>
        <p:spPr>
          <a:xfrm>
            <a:off x="7505700" y="49625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5F96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96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3852043-EB70-4D01-B999-56654257AE13}"/>
              </a:ext>
            </a:extLst>
          </p:cNvPr>
          <p:cNvSpPr>
            <a:spLocks noGrp="1"/>
          </p:cNvSpPr>
          <p:nvPr/>
        </p:nvSpPr>
        <p:spPr>
          <a:xfrm>
            <a:off x="7429500" y="523875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Return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E31CC56-7DE1-455A-A60E-CDD8C2716110}"/>
              </a:ext>
            </a:extLst>
          </p:cNvPr>
          <p:cNvSpPr>
            <a:spLocks noGrp="1"/>
          </p:cNvSpPr>
          <p:nvPr/>
        </p:nvSpPr>
        <p:spPr>
          <a:xfrm>
            <a:off x="7429500" y="54673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9BA7B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9BA7BA"/>
                </a:solidFill>
                <a:latin typeface="Aptos"/>
                <a:ea typeface="Aptos"/>
                <a:cs typeface="Aptos"/>
              </a:rPr>
              <a:t>Come back to an organized layout.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2592A8A-143D-471B-AA6F-E509639ED7F1}"/>
              </a:ext>
            </a:extLst>
          </p:cNvPr>
          <p:cNvSpPr>
            <a:spLocks noGrp="1"/>
          </p:cNvSpPr>
          <p:nvPr/>
        </p:nvSpPr>
        <p:spPr>
          <a:xfrm>
            <a:off x="4552950" y="57721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8D9C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D9CA"/>
                </a:solidFill>
                <a:latin typeface="Aptos"/>
                <a:ea typeface="Aptos"/>
                <a:cs typeface="Aptos"/>
              </a:rPr>
              <a:t>Responsiveness strategy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67894DB-7DB4-4098-A0DE-97C1C7DCAC7C}"/>
              </a:ext>
            </a:extLst>
          </p:cNvPr>
          <p:cNvSpPr>
            <a:spLocks noGrp="1"/>
          </p:cNvSpPr>
          <p:nvPr/>
        </p:nvSpPr>
        <p:spPr>
          <a:xfrm>
            <a:off x="6156026" y="5823544"/>
            <a:ext cx="1257300" cy="2857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C026F32-09EF-458E-8E0F-D39EFC17DB12}"/>
              </a:ext>
            </a:extLst>
          </p:cNvPr>
          <p:cNvSpPr>
            <a:spLocks noGrp="1"/>
          </p:cNvSpPr>
          <p:nvPr/>
        </p:nvSpPr>
        <p:spPr>
          <a:xfrm>
            <a:off x="6232226" y="5871169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76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Stack on mobile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3180138-7CAD-44FA-A6CA-13A18244972B}"/>
              </a:ext>
            </a:extLst>
          </p:cNvPr>
          <p:cNvSpPr>
            <a:spLocks noGrp="1"/>
          </p:cNvSpPr>
          <p:nvPr/>
        </p:nvSpPr>
        <p:spPr>
          <a:xfrm>
            <a:off x="7508576" y="5823544"/>
            <a:ext cx="1257300" cy="2857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4268D60-0BAD-4EE2-9440-BB54FFA37F1B}"/>
              </a:ext>
            </a:extLst>
          </p:cNvPr>
          <p:cNvSpPr>
            <a:spLocks noGrp="1"/>
          </p:cNvSpPr>
          <p:nvPr/>
        </p:nvSpPr>
        <p:spPr>
          <a:xfrm>
            <a:off x="7584776" y="5871169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76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Adjust spacing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1B8F5A5-3FA3-45C4-A031-63B9F3B72A0E}"/>
              </a:ext>
            </a:extLst>
          </p:cNvPr>
          <p:cNvSpPr>
            <a:spLocks noGrp="1"/>
          </p:cNvSpPr>
          <p:nvPr/>
        </p:nvSpPr>
        <p:spPr>
          <a:xfrm>
            <a:off x="8861126" y="5823544"/>
            <a:ext cx="1257300" cy="2857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AAF5A45-CFD1-4F3A-B0B1-5579BAD1AB18}"/>
              </a:ext>
            </a:extLst>
          </p:cNvPr>
          <p:cNvSpPr>
            <a:spLocks noGrp="1"/>
          </p:cNvSpPr>
          <p:nvPr/>
        </p:nvSpPr>
        <p:spPr>
          <a:xfrm>
            <a:off x="8937326" y="5871169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76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Keep touch targets clear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744F6446-9A2A-4F77-A3F0-AB7B99F65921}"/>
              </a:ext>
            </a:extLst>
          </p:cNvPr>
          <p:cNvSpPr>
            <a:spLocks noGrp="1"/>
          </p:cNvSpPr>
          <p:nvPr/>
        </p:nvSpPr>
        <p:spPr>
          <a:xfrm>
            <a:off x="10213676" y="5823544"/>
            <a:ext cx="1257300" cy="28575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0319889-70DB-4B64-9EBD-D6DB18DA6653}"/>
              </a:ext>
            </a:extLst>
          </p:cNvPr>
          <p:cNvSpPr>
            <a:spLocks noGrp="1"/>
          </p:cNvSpPr>
          <p:nvPr/>
        </p:nvSpPr>
        <p:spPr>
          <a:xfrm>
            <a:off x="10289876" y="5871169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ctr">
              <a:defRPr sz="76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Use flexible grids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7FF6228-9F10-44B4-A926-E546CBB858ED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0858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514BC4D-5092-453D-BEE3-A4B5BFFA5F6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10858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BA7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7BA"/>
                </a:solidFill>
                <a:latin typeface="Aptos"/>
                <a:ea typeface="Aptos"/>
                <a:cs typeface="Aptos"/>
              </a:rPr>
              <a:t>Simple path: browse, compare, save, return.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C5275D9-CC28-494A-A312-560E9DE71CC2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BA7B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9BA7B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02133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0EC28A4-69E5-46DF-9733-1F78E2A9CD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9820CD1-90E5-4169-83BA-40C48CEF3545}"/>
              </a:ext>
            </a:extLst>
          </p:cNvPr>
          <p:cNvSpPr>
            <a:spLocks noGrp="1"/>
          </p:cNvSpPr>
          <p:nvPr/>
        </p:nvSpPr>
        <p:spPr>
          <a:xfrm>
            <a:off x="-1238250" y="-1047750"/>
            <a:ext cx="4953000" cy="4953000"/>
          </a:xfrm>
          <a:prstGeom prst="ellipse">
            <a:avLst/>
          </a:prstGeom>
          <a:solidFill>
            <a:srgbClr val="46B37B">
              <a:alpha val="18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8FFACC9-0027-4F0F-B3EA-F17FB11FEA8A}"/>
              </a:ext>
            </a:extLst>
          </p:cNvPr>
          <p:cNvSpPr>
            <a:spLocks noGrp="1"/>
          </p:cNvSpPr>
          <p:nvPr/>
        </p:nvSpPr>
        <p:spPr>
          <a:xfrm>
            <a:off x="8667750" y="-666750"/>
            <a:ext cx="3714750" cy="3714750"/>
          </a:xfrm>
          <a:prstGeom prst="ellipse">
            <a:avLst/>
          </a:prstGeom>
          <a:solidFill>
            <a:srgbClr val="5F96FF">
              <a:alpha val="12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A8392A1-17D4-4F67-8890-54559FF9FE13}"/>
              </a:ext>
            </a:extLst>
          </p:cNvPr>
          <p:cNvSpPr>
            <a:spLocks noGrp="1"/>
          </p:cNvSpPr>
          <p:nvPr/>
        </p:nvSpPr>
        <p:spPr>
          <a:xfrm>
            <a:off x="4000500" y="4953000"/>
            <a:ext cx="5905500" cy="2857500"/>
          </a:xfrm>
          <a:prstGeom prst="ellipse">
            <a:avLst/>
          </a:prstGeom>
          <a:solidFill>
            <a:srgbClr val="FFFFFF">
              <a:alpha val="4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A7DF25-9508-48DC-8812-5DD78675ACB2}"/>
              </a:ext>
            </a:extLst>
          </p:cNvPr>
          <p:cNvSpPr>
            <a:spLocks noGrp="1"/>
          </p:cNvSpPr>
          <p:nvPr/>
        </p:nvSpPr>
        <p:spPr>
          <a:xfrm>
            <a:off x="0" y="28575"/>
            <a:ext cx="12192000" cy="6858000"/>
          </a:xfrm>
          <a:prstGeom prst="rect">
            <a:avLst/>
          </a:prstGeom>
          <a:solidFill>
            <a:srgbClr val="0D1117">
              <a:alpha val="12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88F015-3421-4DF6-9641-CE7F4A779939}"/>
              </a:ext>
            </a:extLst>
          </p:cNvPr>
          <p:cNvSpPr>
            <a:spLocks noGrp="1"/>
          </p:cNvSpPr>
          <p:nvPr/>
        </p:nvSpPr>
        <p:spPr>
          <a:xfrm>
            <a:off x="171450" y="95250"/>
            <a:ext cx="1162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5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dirty="0">
                <a:solidFill>
                  <a:srgbClr val="F5F7FB"/>
                </a:solidFill>
                <a:latin typeface="Aptos Display"/>
                <a:ea typeface="Aptos Display"/>
                <a:cs typeface="Aptos Display"/>
              </a:rPr>
              <a:t>Why The Design Feels Modern And Responsive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7C9C6F-E4DB-4B87-8FF5-E621B3DF8CEE}"/>
              </a:ext>
            </a:extLst>
          </p:cNvPr>
          <p:cNvSpPr>
            <a:spLocks noGrp="1"/>
          </p:cNvSpPr>
          <p:nvPr/>
        </p:nvSpPr>
        <p:spPr>
          <a:xfrm>
            <a:off x="171450" y="666750"/>
            <a:ext cx="118491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7A5A08-EB32-4E47-8B65-6514A5A06489}"/>
              </a:ext>
            </a:extLst>
          </p:cNvPr>
          <p:cNvSpPr>
            <a:spLocks noGrp="1"/>
          </p:cNvSpPr>
          <p:nvPr/>
        </p:nvSpPr>
        <p:spPr>
          <a:xfrm>
            <a:off x="666750" y="771525"/>
            <a:ext cx="3048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F5F7FB"/>
                </a:solidFill>
                <a:latin typeface="Aptos"/>
                <a:ea typeface="Aptos"/>
                <a:cs typeface="Aptos"/>
              </a:rPr>
              <a:t>Style and responsiveness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113A493-F1CB-4611-AB48-31A7695DDED0}"/>
              </a:ext>
            </a:extLst>
          </p:cNvPr>
          <p:cNvSpPr>
            <a:spLocks noGrp="1"/>
          </p:cNvSpPr>
          <p:nvPr/>
        </p:nvSpPr>
        <p:spPr>
          <a:xfrm>
            <a:off x="923025" y="1123949"/>
            <a:ext cx="6754483" cy="1276351"/>
          </a:xfrm>
          <a:prstGeom prst="roundRect">
            <a:avLst>
              <a:gd name="adj" fmla="val 50000"/>
            </a:avLst>
          </a:prstGeom>
          <a:solidFill>
            <a:srgbClr val="161D26">
              <a:alpha val="96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9830BA-7563-49A1-9683-3DE7716FBE0E}"/>
              </a:ext>
            </a:extLst>
          </p:cNvPr>
          <p:cNvSpPr>
            <a:spLocks noGrp="1"/>
          </p:cNvSpPr>
          <p:nvPr/>
        </p:nvSpPr>
        <p:spPr>
          <a:xfrm>
            <a:off x="171450" y="6457950"/>
            <a:ext cx="6667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F74430-3324-4398-95AC-A6CA74F390CC}"/>
              </a:ext>
            </a:extLst>
          </p:cNvPr>
          <p:cNvSpPr>
            <a:spLocks noGrp="1"/>
          </p:cNvSpPr>
          <p:nvPr/>
        </p:nvSpPr>
        <p:spPr>
          <a:xfrm>
            <a:off x="171450" y="657225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BA7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BA7BA"/>
                </a:solidFill>
                <a:latin typeface="Aptos"/>
                <a:ea typeface="Aptos"/>
                <a:cs typeface="Aptos"/>
              </a:rPr>
              <a:t>Modern feel + responsive structure + clear text hierarchy.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91B6EC-668C-4B09-8943-0011264F24C3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BA7B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9BA7B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2D450F-54EE-68D0-A264-1539866BEBB8}"/>
              </a:ext>
            </a:extLst>
          </p:cNvPr>
          <p:cNvSpPr>
            <a:spLocks noGrp="1"/>
          </p:cNvSpPr>
          <p:nvPr/>
        </p:nvSpPr>
        <p:spPr>
          <a:xfrm>
            <a:off x="1742176" y="1247775"/>
            <a:ext cx="5745552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marL="285750" indent="-285750" algn="just">
              <a:buFont typeface="Arial" panose="020B0604020202020204" pitchFamily="34" charset="0"/>
              <a:buChar char="•"/>
              <a:defRPr sz="1350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lang="en-US" sz="1350" b="1" dirty="0">
                <a:solidFill>
                  <a:srgbClr val="F5F7FB"/>
                </a:solidFill>
                <a:latin typeface="Aptos"/>
                <a:ea typeface="Aptos"/>
                <a:cs typeface="Aptos"/>
              </a:rPr>
              <a:t>Dark background with green accent for a modern tech feel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350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lang="en-US" sz="1350" b="1" dirty="0" err="1">
                <a:solidFill>
                  <a:srgbClr val="F5F7FB"/>
                </a:solidFill>
                <a:latin typeface="Aptos"/>
                <a:ea typeface="Aptos"/>
                <a:cs typeface="Aptos"/>
              </a:rPr>
              <a:t>Glassmorphism</a:t>
            </a:r>
            <a:r>
              <a:rPr lang="en-US" sz="1350" b="1" dirty="0">
                <a:solidFill>
                  <a:srgbClr val="F5F7FB"/>
                </a:solidFill>
                <a:latin typeface="Aptos"/>
                <a:ea typeface="Aptos"/>
                <a:cs typeface="Aptos"/>
              </a:rPr>
              <a:t> panels and soft shadows create depth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350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lang="en-US" sz="1350" b="1" dirty="0">
                <a:solidFill>
                  <a:srgbClr val="F5F7FB"/>
                </a:solidFill>
                <a:latin typeface="Aptos"/>
                <a:ea typeface="Aptos"/>
                <a:cs typeface="Aptos"/>
              </a:rPr>
              <a:t>Manrope and Space Grotesk give clear body text and strong headings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350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lang="en-US" sz="1350" b="1" dirty="0">
                <a:solidFill>
                  <a:srgbClr val="F5F7FB"/>
                </a:solidFill>
                <a:latin typeface="Aptos"/>
                <a:ea typeface="Aptos"/>
                <a:cs typeface="Aptos"/>
              </a:rPr>
              <a:t>Grid and Flexbox help the layout adapt to different screen sizes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350" b="1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lang="en-US" sz="1350" b="1" dirty="0">
                <a:solidFill>
                  <a:srgbClr val="F5F7FB"/>
                </a:solidFill>
                <a:latin typeface="Aptos"/>
                <a:ea typeface="Aptos"/>
                <a:cs typeface="Aptos"/>
              </a:rPr>
              <a:t>Mobile layout stacks sections so the page stays readable</a:t>
            </a:r>
            <a:endParaRPr sz="1350" b="1" dirty="0">
              <a:solidFill>
                <a:srgbClr val="F5F7F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941019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344</Words>
  <Application>Microsoft Office PowerPoint</Application>
  <DocSecurity>0</DocSecurity>
  <PresentationFormat>Widescreen</PresentationFormat>
  <Paragraphs>74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Aptos Mono</vt:lpstr>
      <vt:lpstr>Arial</vt:lpstr>
      <vt:lpstr>Calibri</vt:lpstr>
      <vt:lpstr>ChatGPT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John Wayne Rico</cp:lastModifiedBy>
  <cp:revision>4</cp:revision>
  <dcterms:created xsi:type="dcterms:W3CDTF">2026-05-17T10:59:22Z</dcterms:created>
  <dcterms:modified xsi:type="dcterms:W3CDTF">2026-05-17T11:05:08Z</dcterms:modified>
</cp:coreProperties>
</file>